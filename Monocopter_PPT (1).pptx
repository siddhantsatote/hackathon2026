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font" Target="fonts/ArialBlack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03607eae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03607eae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03607eae6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08540" y="641758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MONOCOPTER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08540" y="1553370"/>
            <a:ext cx="7498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Single-Blade Rotary-Wing UAV with Autonomous Stabilization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08540" y="20562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ESP32 + MPU6050 | Phase-Locked Cyclic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13375" y="2513500"/>
            <a:ext cx="4010100" cy="366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8540" y="2404538"/>
            <a:ext cx="5943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Siddhant Satote  •  Sanika Nikumbh</a:t>
            </a:r>
            <a:br>
              <a:rPr b="1" i="0" lang="en-US" sz="14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Department of Electronics &amp; Telecommunication</a:t>
            </a:r>
            <a:br>
              <a:rPr b="0" i="0" lang="en-US" sz="12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Alard College of Engineering &amp; Management, Pune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13375" y="3439711"/>
            <a:ext cx="1828800" cy="691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009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13375" y="3439711"/>
            <a:ext cx="18288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GUIDE</a:t>
            </a:r>
            <a:br>
              <a:rPr b="1" i="0" lang="en-US" sz="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Dalvi Sir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0" y="4800600"/>
            <a:ext cx="914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Academic Year 2026–27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5CC"/>
          </a:solidFill>
          <a:ln cap="flat" cmpd="sng" w="12700">
            <a:solidFill>
              <a:srgbClr val="009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 title="WhatsApp Image 2026-04-13 at 2.12.42 PM.jpeg"/>
          <p:cNvPicPr preferRelativeResize="0"/>
          <p:nvPr/>
        </p:nvPicPr>
        <p:blipFill rotWithShape="1">
          <a:blip r:embed="rId3">
            <a:alphaModFix/>
          </a:blip>
          <a:srcRect b="9936" l="21129" r="22405" t="26374"/>
          <a:stretch/>
        </p:blipFill>
        <p:spPr>
          <a:xfrm>
            <a:off x="5635525" y="2127551"/>
            <a:ext cx="3075526" cy="260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28600" y="91440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INTRO-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8600" y="26517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What is a Monocopter?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" y="301752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Inspired by the maple seed (samara), a monocopter achieves flight using a single rotating wing — the entire airframe spins as one unit.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566160" y="365760"/>
            <a:ext cx="256032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566160" y="365760"/>
            <a:ext cx="64008" cy="1920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703320" y="5029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703320" y="960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Bio-Inspired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703320" y="13258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Rooted in autorotation &amp; gyroscopic dynamics of samaras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309360" y="365760"/>
            <a:ext cx="256032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309360" y="365760"/>
            <a:ext cx="64008" cy="1920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46520" y="5029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46520" y="960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Single Motor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46520" y="13258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One BLDC motor — drastically fewer failure points vs quadcopters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566160" y="2514600"/>
            <a:ext cx="256032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566160" y="2514600"/>
            <a:ext cx="64008" cy="1920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703320" y="2651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703320" y="3108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Core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703320" y="347472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Phase-locked cyclic control — servo must fire at exact rotational phase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309360" y="2514600"/>
            <a:ext cx="256032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309360" y="2514600"/>
            <a:ext cx="64008" cy="1920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446520" y="2651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6520" y="3108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446520" y="347472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Recon, emergency drops, indoor exploration, payload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263050" y="18283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56375" y="749800"/>
            <a:ext cx="8376000" cy="366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65760" y="960120"/>
            <a:ext cx="1920240" cy="1737360"/>
          </a:xfrm>
          <a:prstGeom prst="rect">
            <a:avLst/>
          </a:prstGeom>
          <a:solidFill>
            <a:srgbClr val="1A2E4A"/>
          </a:solidFill>
          <a:ln cap="flat" cmpd="sng" w="254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65760" y="960120"/>
            <a:ext cx="1920240" cy="38404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960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137160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3S LiPo 11.1V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1300–2200mAh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286000" y="1773936"/>
            <a:ext cx="228600" cy="54864"/>
          </a:xfrm>
          <a:prstGeom prst="rect">
            <a:avLst/>
          </a:prstGeom>
          <a:solidFill>
            <a:srgbClr val="7A9BB5"/>
          </a:solidFill>
          <a:ln cap="flat" cmpd="sng" w="12700">
            <a:solidFill>
              <a:srgbClr val="7A9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514600" y="960120"/>
            <a:ext cx="1920240" cy="1737360"/>
          </a:xfrm>
          <a:prstGeom prst="rect">
            <a:avLst/>
          </a:prstGeom>
          <a:solidFill>
            <a:srgbClr val="1A2E4A"/>
          </a:solidFill>
          <a:ln cap="flat" cmpd="sng" w="254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514600" y="960120"/>
            <a:ext cx="1920240" cy="384048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514600" y="960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SENSING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606040" y="137160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MPU6050 IMU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6-DOF @ 50Hz I2C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434840" y="1773936"/>
            <a:ext cx="228600" cy="54864"/>
          </a:xfrm>
          <a:prstGeom prst="rect">
            <a:avLst/>
          </a:prstGeom>
          <a:solidFill>
            <a:srgbClr val="7A9BB5"/>
          </a:solidFill>
          <a:ln cap="flat" cmpd="sng" w="12700">
            <a:solidFill>
              <a:srgbClr val="7A9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663440" y="960120"/>
            <a:ext cx="1920240" cy="1737360"/>
          </a:xfrm>
          <a:prstGeom prst="rect">
            <a:avLst/>
          </a:prstGeom>
          <a:solidFill>
            <a:srgbClr val="1A2E4A"/>
          </a:solidFill>
          <a:ln cap="flat" cmpd="sng" w="254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663440" y="960120"/>
            <a:ext cx="1920240" cy="384048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663440" y="960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COMPUTE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54880" y="137160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ESP32 240MHz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PID + Phase Track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583680" y="1773936"/>
            <a:ext cx="228600" cy="54864"/>
          </a:xfrm>
          <a:prstGeom prst="rect">
            <a:avLst/>
          </a:prstGeom>
          <a:solidFill>
            <a:srgbClr val="7A9BB5"/>
          </a:solidFill>
          <a:ln cap="flat" cmpd="sng" w="12700">
            <a:solidFill>
              <a:srgbClr val="7A9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12280" y="960120"/>
            <a:ext cx="1920240" cy="1737360"/>
          </a:xfrm>
          <a:prstGeom prst="rect">
            <a:avLst/>
          </a:prstGeom>
          <a:solidFill>
            <a:srgbClr val="1A2E4A"/>
          </a:solidFill>
          <a:ln cap="flat" cmpd="sng" w="254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812280" y="960120"/>
            <a:ext cx="1920240" cy="38404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812280" y="960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ACTUATION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903720" y="137160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BLDC Motor + ESC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9g Servo Cyclic Pitch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009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CONTROL LOOP  (50 Hz Fixed-Frequency)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02920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IMU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737360" y="4005072"/>
            <a:ext cx="155448" cy="54864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892808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892808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Attitude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127248" y="4005072"/>
            <a:ext cx="155448" cy="54864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282696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282696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Phase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17136" y="4005072"/>
            <a:ext cx="155448" cy="54864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672584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672584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PID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907024" y="4005072"/>
            <a:ext cx="155448" cy="54864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062472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062472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Phase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296912" y="4005072"/>
            <a:ext cx="155448" cy="54864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452360" y="3474720"/>
            <a:ext cx="1234440" cy="11887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452360" y="347472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 Servo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HARDWARE IMPLEMENTATION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28600" y="96012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20040" y="96926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 Dev 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20040" y="13441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Flight 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20040" y="166420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240MHz Dual-Core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WiFi / Bluetooth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172968" y="96012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172968" y="960120"/>
            <a:ext cx="2743200" cy="34747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264408" y="96926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MPU6050 IMU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264408" y="13441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Attitude Sensing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264408" y="166420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6-DOF MEMS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50Hz, I2C 400kHz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117336" y="96012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117336" y="960120"/>
            <a:ext cx="2743200" cy="347472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208776" y="96926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Brushless Motor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208776" y="13441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Primary Lift / Rotation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208776" y="166420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BLDC, KV TBD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3-Phase 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28600" y="297180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28600" y="2971800"/>
            <a:ext cx="2743200" cy="34747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20040" y="29809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0040" y="33558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Motor Speed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20040" y="367588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20–30A PWM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Throttle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172968" y="297180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172968" y="2971800"/>
            <a:ext cx="2743200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264408" y="29809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9g Micro Servo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264408" y="33558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Phase-Gated Correction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64408" y="367588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PWM Actuation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Cyclic Pitch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117336" y="2971800"/>
            <a:ext cx="27432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117336" y="2971800"/>
            <a:ext cx="2743200" cy="347472"/>
          </a:xfrm>
          <a:prstGeom prst="rect">
            <a:avLst/>
          </a:prstGeom>
          <a:solidFill>
            <a:srgbClr val="16A085"/>
          </a:solidFill>
          <a:ln cap="flat" cmpd="sng" w="127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208776" y="29809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3S LiPo Battery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08776" y="33558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Power Supply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08776" y="3675888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11.1V, 1300–2200mAh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5A7A"/>
                </a:solidFill>
                <a:latin typeface="Calibri"/>
                <a:ea typeface="Calibri"/>
                <a:cs typeface="Calibri"/>
                <a:sym typeface="Calibri"/>
              </a:rPr>
              <a:t>Main Power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260500" y="164542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PHASE-LOCKED CYCLIC CONTROL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50" y="694950"/>
            <a:ext cx="8458200" cy="366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65760" y="914400"/>
            <a:ext cx="457200" cy="777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65760" y="91440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50392" y="914400"/>
            <a:ext cx="4754880" cy="777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914400" y="9509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14400" y="122529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Since the entire airframe rotates, a fixed correction command changes direction each revolution. Control must be phase-aware.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65760" y="1920240"/>
            <a:ext cx="457200" cy="777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65760" y="192024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50392" y="1920240"/>
            <a:ext cx="4754880" cy="777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914400" y="19568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Phase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14400" y="223113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Gyro yaw rate is integrated each 50Hz tick to accumulate rotation angle (0°–360°).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65760" y="2926080"/>
            <a:ext cx="457200" cy="777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65760" y="292608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50392" y="2926080"/>
            <a:ext cx="4754880" cy="777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914400" y="296265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PID Output → Direction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14400" y="32369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Roll + Pitch error determines the target actuation angle. 90° phase lead is added to compensate for gyroscopic lag.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65760" y="3931920"/>
            <a:ext cx="457200" cy="7772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393192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50392" y="3931920"/>
            <a:ext cx="4754880" cy="777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914400" y="39684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Servo Pulse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14400" y="424281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When current phase = θ_target + 90°, servo fires a cyclic pitch pulse — once per revolution.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806450" y="914400"/>
            <a:ext cx="3017400" cy="37947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009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897880" y="960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FIRMWARE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806440" y="1298448"/>
            <a:ext cx="3017520" cy="374904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870448" y="13533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 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223760" y="1353312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I2C, DMP init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806440" y="1673352"/>
            <a:ext cx="3017520" cy="374904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870448" y="172821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Attitude Est.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223760" y="1728216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98% gyro + 2% accel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806440" y="2048256"/>
            <a:ext cx="3017520" cy="374904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870448" y="21031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Tracker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223760" y="210312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ωz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806440" y="2423160"/>
            <a:ext cx="3017520" cy="374904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870448" y="247802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PID 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223760" y="2478024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Roll + Pitch error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806440" y="2798064"/>
            <a:ext cx="3017520" cy="374904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870448" y="285292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Servo 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223760" y="28529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Phase-gated PWM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806440" y="3172968"/>
            <a:ext cx="3017520" cy="374904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870448" y="32278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 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223760" y="3227832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Throttle PWM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806440" y="3547872"/>
            <a:ext cx="3017520" cy="374904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870448" y="36027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223760" y="3602736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Live telemetry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RESULTS &amp; FUTURE SCOPE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57200" y="891550"/>
            <a:ext cx="1888800" cy="1371600"/>
          </a:xfrm>
          <a:prstGeom prst="rect">
            <a:avLst/>
          </a:prstGeom>
          <a:solidFill>
            <a:srgbClr val="1A2E4A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57200" y="955558"/>
            <a:ext cx="18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0C8FF"/>
                </a:solidFill>
                <a:latin typeface="Arial Black"/>
                <a:ea typeface="Arial Black"/>
                <a:cs typeface="Arial Black"/>
                <a:sym typeface="Arial Black"/>
              </a:rPr>
              <a:t>50Hz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1595638"/>
            <a:ext cx="188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IMU data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via I2C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570798" y="891550"/>
            <a:ext cx="1888800" cy="1371600"/>
          </a:xfrm>
          <a:prstGeom prst="rect">
            <a:avLst/>
          </a:prstGeom>
          <a:solidFill>
            <a:srgbClr val="1A2E4A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570798" y="955558"/>
            <a:ext cx="18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0C8FF"/>
                </a:solidFill>
                <a:latin typeface="Arial Black"/>
                <a:ea typeface="Arial Black"/>
                <a:cs typeface="Arial Black"/>
                <a:sym typeface="Arial Black"/>
              </a:rPr>
              <a:t>&lt;5ms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570798" y="1595638"/>
            <a:ext cx="188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Phase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684396" y="891550"/>
            <a:ext cx="1888800" cy="1371600"/>
          </a:xfrm>
          <a:prstGeom prst="rect">
            <a:avLst/>
          </a:prstGeom>
          <a:solidFill>
            <a:srgbClr val="1A2E4A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684396" y="955558"/>
            <a:ext cx="18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0C8FF"/>
                </a:solidFill>
                <a:latin typeface="Arial Black"/>
                <a:ea typeface="Arial Black"/>
                <a:cs typeface="Arial Black"/>
                <a:sym typeface="Arial Black"/>
              </a:rPr>
              <a:t>2–3 rev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684396" y="1595638"/>
            <a:ext cx="188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Disturbance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797994" y="891550"/>
            <a:ext cx="1888800" cy="1371600"/>
          </a:xfrm>
          <a:prstGeom prst="rect">
            <a:avLst/>
          </a:prstGeom>
          <a:solidFill>
            <a:srgbClr val="1A2E4A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797994" y="955558"/>
            <a:ext cx="18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0C8FF"/>
                </a:solidFill>
                <a:latin typeface="Arial Black"/>
                <a:ea typeface="Arial Black"/>
                <a:cs typeface="Arial Black"/>
                <a:sym typeface="Arial Black"/>
              </a:rPr>
              <a:t>98/2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797994" y="1595638"/>
            <a:ext cx="188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Gyro/Accel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filter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24231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65760" y="27889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Phase-locked cyclic control validated in tethered bench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32095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90° gyroscopic phase lead correctly compensates precession lag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363016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✓  Complementary filter tuned to 98% gyro weight to reduce vibration noise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65760" y="405079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✓  ESP32 dual-core: control loop + telemetry run concurrently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92050" y="2423150"/>
            <a:ext cx="3794700" cy="24141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009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983405" y="2523766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029138" y="287367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🚁  Free Flight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029138" y="3221062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GPS + Barometric Altitude 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029163" y="3596054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AI Route 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029138" y="4021259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Payload Bay for Drop Missions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029138" y="4405038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Nexus TVC Firmware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Alard College of Engineering &amp; Management  |  ENTC Dept  |  AY 2026–27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9" title="Frame 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-140401"/>
            <a:ext cx="9213801" cy="52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